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embeddedFontLst>
    <p:embeddedFont>
      <p:font typeface="Lato" panose="020F0502020204030203" pitchFamily="34" charset="0"/>
      <p:regular r:id="rId15"/>
      <p:bold r:id="rId16"/>
      <p:italic r:id="rId17"/>
      <p:boldItalic r:id="rId18"/>
    </p:embeddedFont>
    <p:embeddedFont>
      <p:font typeface="Raleway" pitchFamily="2"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ca4de2ff85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ca4de2ff8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ca4de2ff8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ca4de2ff8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ca4de2ff85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ca4de2ff8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ca4de2ff85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ca4de2ff8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ca7ffb2f0f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ca7ffb2f0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ca7ffb2f0f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ca7ffb2f0f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ca7ffb2f0f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ca7ffb2f0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c0bc2eba89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3c0bc2eba89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c0bc2eba89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c0bc2eba89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ca7ffb2f0f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ca7ffb2f0f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c49240a02a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c49240a02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249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SUPERFOODMAX</a:t>
            </a:r>
            <a:endParaRPr dirty="0"/>
          </a:p>
          <a:p>
            <a:pPr marL="0" lvl="0" indent="0" algn="l" rtl="0">
              <a:spcBef>
                <a:spcPts val="0"/>
              </a:spcBef>
              <a:spcAft>
                <a:spcPts val="0"/>
              </a:spcAft>
              <a:buNone/>
            </a:pPr>
            <a:r>
              <a:rPr lang="en-GB" sz="1700" i="1" dirty="0">
                <a:solidFill>
                  <a:schemeClr val="accent1"/>
                </a:solidFill>
                <a:latin typeface="Lato"/>
                <a:ea typeface="Lato"/>
                <a:cs typeface="Lato"/>
                <a:sym typeface="Lato"/>
              </a:rPr>
              <a:t>Data Analysis</a:t>
            </a:r>
            <a:endParaRPr sz="4300" i="1" dirty="0"/>
          </a:p>
        </p:txBody>
      </p:sp>
      <p:sp>
        <p:nvSpPr>
          <p:cNvPr id="87" name="Google Shape;87;p13"/>
          <p:cNvSpPr txBox="1">
            <a:spLocks noGrp="1"/>
          </p:cNvSpPr>
          <p:nvPr>
            <p:ph type="subTitle" idx="1"/>
          </p:nvPr>
        </p:nvSpPr>
        <p:spPr>
          <a:xfrm>
            <a:off x="727950" y="3660250"/>
            <a:ext cx="7688100" cy="9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Business Questions </a:t>
            </a:r>
            <a:endParaRPr/>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a:t>SuperfoodMax shareholders objectives were aim to grow revenue by 5% over the next 2 years and gain an understanding of the buying patterns of its current customers, in order to achieve that we raised some questions;</a:t>
            </a:r>
            <a:endParaRPr/>
          </a:p>
          <a:p>
            <a:pPr marL="0" lvl="0" indent="0" algn="l" rtl="0">
              <a:spcBef>
                <a:spcPts val="1200"/>
              </a:spcBef>
              <a:spcAft>
                <a:spcPts val="0"/>
              </a:spcAft>
              <a:buNone/>
            </a:pPr>
            <a:r>
              <a:rPr lang="en-GB"/>
              <a:t>-How to lift average spend of loyal customers?</a:t>
            </a:r>
            <a:endParaRPr/>
          </a:p>
          <a:p>
            <a:pPr marL="0" lvl="0" indent="0" algn="l" rtl="0">
              <a:spcBef>
                <a:spcPts val="1200"/>
              </a:spcBef>
              <a:spcAft>
                <a:spcPts val="0"/>
              </a:spcAft>
              <a:buNone/>
            </a:pPr>
            <a:r>
              <a:rPr lang="en-GB"/>
              <a:t>-How to convert first time customers into regular customer?</a:t>
            </a:r>
            <a:endParaRPr/>
          </a:p>
          <a:p>
            <a:pPr marL="0" lvl="0" indent="0" algn="l" rtl="0">
              <a:spcBef>
                <a:spcPts val="1200"/>
              </a:spcBef>
              <a:spcAft>
                <a:spcPts val="0"/>
              </a:spcAft>
              <a:buNone/>
            </a:pPr>
            <a:r>
              <a:rPr lang="en-GB"/>
              <a:t>-What are the categories/departments are popular?</a:t>
            </a:r>
            <a:endParaRPr/>
          </a:p>
          <a:p>
            <a:pPr marL="0" lvl="0" indent="0" algn="l" rtl="0">
              <a:spcBef>
                <a:spcPts val="1200"/>
              </a:spcBef>
              <a:spcAft>
                <a:spcPts val="0"/>
              </a:spcAft>
              <a:buNone/>
            </a:pPr>
            <a:r>
              <a:rPr lang="en-GB"/>
              <a:t>-How does seasonality affect the revenue?  </a:t>
            </a:r>
            <a:endParaRPr/>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457200" algn="l" rtl="0">
              <a:spcBef>
                <a:spcPts val="0"/>
              </a:spcBef>
              <a:spcAft>
                <a:spcPts val="0"/>
              </a:spcAft>
              <a:buNone/>
            </a:pPr>
            <a:r>
              <a:rPr lang="en-GB"/>
              <a:t>Data has been extracted from its internal data sources. It contains information about;</a:t>
            </a:r>
            <a:endParaRPr/>
          </a:p>
          <a:p>
            <a:pPr marL="914400" lvl="0" indent="0" algn="l" rtl="0">
              <a:spcBef>
                <a:spcPts val="1200"/>
              </a:spcBef>
              <a:spcAft>
                <a:spcPts val="0"/>
              </a:spcAft>
              <a:buNone/>
            </a:pPr>
            <a:r>
              <a:rPr lang="en-GB"/>
              <a:t>1)Transaction information </a:t>
            </a:r>
            <a:endParaRPr/>
          </a:p>
          <a:p>
            <a:pPr marL="914400" lvl="0" indent="0" algn="l" rtl="0">
              <a:spcBef>
                <a:spcPts val="1200"/>
              </a:spcBef>
              <a:spcAft>
                <a:spcPts val="0"/>
              </a:spcAft>
              <a:buNone/>
            </a:pPr>
            <a:r>
              <a:rPr lang="en-GB"/>
              <a:t>2)Product information </a:t>
            </a:r>
            <a:endParaRPr/>
          </a:p>
          <a:p>
            <a:pPr marL="914400" lvl="0" indent="0" algn="l" rtl="0">
              <a:spcBef>
                <a:spcPts val="1200"/>
              </a:spcBef>
              <a:spcAft>
                <a:spcPts val="0"/>
              </a:spcAft>
              <a:buNone/>
            </a:pPr>
            <a:r>
              <a:rPr lang="en-GB"/>
              <a:t>3)Customer information</a:t>
            </a:r>
            <a:endParaRPr/>
          </a:p>
          <a:p>
            <a:pPr marL="0" lvl="0" indent="0" algn="l" rtl="0">
              <a:spcBef>
                <a:spcPts val="1200"/>
              </a:spcBef>
              <a:spcAft>
                <a:spcPts val="1200"/>
              </a:spcAft>
              <a:buNone/>
            </a:pPr>
            <a:r>
              <a:rPr lang="en-GB"/>
              <a:t>In our analysis data from 2017-2020 has been used.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Cleaning</a:t>
            </a:r>
            <a:endParaRPr/>
          </a:p>
        </p:txBody>
      </p:sp>
      <p:sp>
        <p:nvSpPr>
          <p:cNvPr id="104" name="Google Shape;104;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In order to get an accurate analysis, we apply some cleaning techniques on the dataset before starting. </a:t>
            </a:r>
            <a:endParaRPr/>
          </a:p>
          <a:p>
            <a:pPr marL="0" lvl="0" indent="0" algn="l" rtl="0">
              <a:spcBef>
                <a:spcPts val="1200"/>
              </a:spcBef>
              <a:spcAft>
                <a:spcPts val="0"/>
              </a:spcAft>
              <a:buNone/>
            </a:pPr>
            <a:r>
              <a:rPr lang="en-GB"/>
              <a:t>Dataset has been checked for duplicates, Nan values, which did  not existed, data entry was on point.</a:t>
            </a:r>
            <a:endParaRPr/>
          </a:p>
          <a:p>
            <a:pPr marL="0" lvl="0" indent="0" algn="l" rtl="0">
              <a:spcBef>
                <a:spcPts val="1200"/>
              </a:spcBef>
              <a:spcAft>
                <a:spcPts val="1200"/>
              </a:spcAft>
              <a:buNone/>
            </a:pPr>
            <a:r>
              <a:rPr lang="en-GB"/>
              <a:t>Some data type has been corrected.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311700" y="2437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Descriptive Analysis</a:t>
            </a:r>
            <a:endParaRPr/>
          </a:p>
          <a:p>
            <a:pPr marL="0" lvl="0" indent="0" algn="l" rtl="0">
              <a:spcBef>
                <a:spcPts val="0"/>
              </a:spcBef>
              <a:spcAft>
                <a:spcPts val="0"/>
              </a:spcAft>
              <a:buNone/>
            </a:pPr>
            <a:endParaRPr/>
          </a:p>
        </p:txBody>
      </p:sp>
      <p:sp>
        <p:nvSpPr>
          <p:cNvPr id="110" name="Google Shape;110;p17"/>
          <p:cNvSpPr txBox="1">
            <a:spLocks noGrp="1"/>
          </p:cNvSpPr>
          <p:nvPr>
            <p:ph type="body" idx="1"/>
          </p:nvPr>
        </p:nvSpPr>
        <p:spPr>
          <a:xfrm>
            <a:off x="311700" y="880725"/>
            <a:ext cx="3553500" cy="1887300"/>
          </a:xfrm>
          <a:prstGeom prst="rect">
            <a:avLst/>
          </a:prstGeom>
        </p:spPr>
        <p:txBody>
          <a:bodyPr spcFirstLastPara="1" wrap="square" lIns="91425" tIns="91425" rIns="91425" bIns="91425" anchor="t" anchorCtr="0">
            <a:normAutofit fontScale="77500" lnSpcReduction="10000"/>
          </a:bodyPr>
          <a:lstStyle/>
          <a:p>
            <a:pPr marL="0" lvl="0" indent="0" algn="l" rtl="0">
              <a:lnSpc>
                <a:spcPct val="100000"/>
              </a:lnSpc>
              <a:spcBef>
                <a:spcPts val="0"/>
              </a:spcBef>
              <a:spcAft>
                <a:spcPts val="0"/>
              </a:spcAft>
              <a:buNone/>
            </a:pPr>
            <a:r>
              <a:rPr lang="en-GB" sz="1600" b="1"/>
              <a:t>📊 </a:t>
            </a:r>
            <a:r>
              <a:rPr lang="en-GB" sz="1600" b="1" i="1"/>
              <a:t>Key Findings:</a:t>
            </a:r>
            <a:endParaRPr sz="1600" b="1" i="1"/>
          </a:p>
          <a:p>
            <a:pPr marL="0" lvl="0" indent="0" algn="l" rtl="0">
              <a:lnSpc>
                <a:spcPct val="100000"/>
              </a:lnSpc>
              <a:spcBef>
                <a:spcPts val="0"/>
              </a:spcBef>
              <a:spcAft>
                <a:spcPts val="0"/>
              </a:spcAft>
              <a:buNone/>
            </a:pPr>
            <a:endParaRPr sz="1600" b="1"/>
          </a:p>
          <a:p>
            <a:pPr marL="457200" lvl="0" indent="-302418" algn="l" rtl="0">
              <a:lnSpc>
                <a:spcPct val="100000"/>
              </a:lnSpc>
              <a:spcBef>
                <a:spcPts val="0"/>
              </a:spcBef>
              <a:spcAft>
                <a:spcPts val="0"/>
              </a:spcAft>
              <a:buSzPct val="100000"/>
              <a:buChar char="●"/>
            </a:pPr>
            <a:r>
              <a:rPr lang="en-GB" sz="1500"/>
              <a:t>First time buyers are significantly less than loyal and promiscuous customers.</a:t>
            </a:r>
            <a:endParaRPr sz="1500"/>
          </a:p>
          <a:p>
            <a:pPr marL="457200" lvl="0" indent="-302418" algn="l" rtl="0">
              <a:lnSpc>
                <a:spcPct val="100000"/>
              </a:lnSpc>
              <a:spcBef>
                <a:spcPts val="0"/>
              </a:spcBef>
              <a:spcAft>
                <a:spcPts val="0"/>
              </a:spcAft>
              <a:buSzPct val="100000"/>
              <a:buChar char="●"/>
            </a:pPr>
            <a:r>
              <a:rPr lang="en-GB" sz="1500"/>
              <a:t>Promiscuous customers shopped in the store more than loyal customers and brought %42 more revenue than loyal customers.</a:t>
            </a:r>
            <a:endParaRPr sz="1500"/>
          </a:p>
          <a:p>
            <a:pPr marL="457200" lvl="0" indent="-302418" algn="l" rtl="0">
              <a:lnSpc>
                <a:spcPct val="100000"/>
              </a:lnSpc>
              <a:spcBef>
                <a:spcPts val="0"/>
              </a:spcBef>
              <a:spcAft>
                <a:spcPts val="0"/>
              </a:spcAft>
              <a:buSzPct val="100000"/>
              <a:buChar char="●"/>
            </a:pPr>
            <a:r>
              <a:rPr lang="en-GB" sz="1500"/>
              <a:t>Loyal customers average basket spending is similar to first time buyers and promiscuous customers.</a:t>
            </a:r>
            <a:endParaRPr sz="1400" b="1"/>
          </a:p>
        </p:txBody>
      </p:sp>
      <p:pic>
        <p:nvPicPr>
          <p:cNvPr id="111" name="Google Shape;111;p17" title="descriptive analysis.png"/>
          <p:cNvPicPr preferRelativeResize="0"/>
          <p:nvPr/>
        </p:nvPicPr>
        <p:blipFill>
          <a:blip r:embed="rId3">
            <a:alphaModFix/>
          </a:blip>
          <a:stretch>
            <a:fillRect/>
          </a:stretch>
        </p:blipFill>
        <p:spPr>
          <a:xfrm>
            <a:off x="954062" y="2817199"/>
            <a:ext cx="7235876" cy="1751675"/>
          </a:xfrm>
          <a:prstGeom prst="rect">
            <a:avLst/>
          </a:prstGeom>
          <a:noFill/>
          <a:ln>
            <a:noFill/>
          </a:ln>
        </p:spPr>
      </p:pic>
      <p:sp>
        <p:nvSpPr>
          <p:cNvPr id="112" name="Google Shape;112;p17"/>
          <p:cNvSpPr txBox="1"/>
          <p:nvPr/>
        </p:nvSpPr>
        <p:spPr>
          <a:xfrm>
            <a:off x="4106750" y="816400"/>
            <a:ext cx="4438800" cy="1855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chemeClr val="dk2"/>
                </a:solidFill>
              </a:rPr>
              <a:t>💡 </a:t>
            </a:r>
            <a:r>
              <a:rPr lang="en-GB" b="1" i="1">
                <a:solidFill>
                  <a:schemeClr val="dk2"/>
                </a:solidFill>
              </a:rPr>
              <a:t>Business Insights:</a:t>
            </a:r>
            <a:endParaRPr i="1">
              <a:solidFill>
                <a:schemeClr val="dk2"/>
              </a:solidFill>
            </a:endParaRPr>
          </a:p>
          <a:p>
            <a:pPr marL="457200" lvl="0" indent="0" algn="l" rtl="0">
              <a:spcBef>
                <a:spcPts val="0"/>
              </a:spcBef>
              <a:spcAft>
                <a:spcPts val="0"/>
              </a:spcAft>
              <a:buNone/>
            </a:pPr>
            <a:endParaRPr sz="1200">
              <a:solidFill>
                <a:schemeClr val="dk2"/>
              </a:solidFill>
            </a:endParaRPr>
          </a:p>
          <a:p>
            <a:pPr marL="457200" lvl="0" indent="-304800" algn="l" rtl="0">
              <a:spcBef>
                <a:spcPts val="0"/>
              </a:spcBef>
              <a:spcAft>
                <a:spcPts val="0"/>
              </a:spcAft>
              <a:buClr>
                <a:schemeClr val="dk2"/>
              </a:buClr>
              <a:buSzPts val="1200"/>
              <a:buChar char="●"/>
            </a:pPr>
            <a:r>
              <a:rPr lang="en-GB" sz="1200">
                <a:solidFill>
                  <a:schemeClr val="dk2"/>
                </a:solidFill>
              </a:rPr>
              <a:t>Turning promiscuous customers into loyal customers lift the revenue significantly. Create loyalty rewards and VIP perks. </a:t>
            </a:r>
            <a:endParaRPr sz="1200">
              <a:solidFill>
                <a:schemeClr val="dk2"/>
              </a:solidFill>
            </a:endParaRPr>
          </a:p>
          <a:p>
            <a:pPr marL="457200" lvl="0" indent="-304800" algn="l" rtl="0">
              <a:spcBef>
                <a:spcPts val="0"/>
              </a:spcBef>
              <a:spcAft>
                <a:spcPts val="0"/>
              </a:spcAft>
              <a:buClr>
                <a:schemeClr val="dk2"/>
              </a:buClr>
              <a:buSzPts val="1200"/>
              <a:buChar char="●"/>
            </a:pPr>
            <a:r>
              <a:rPr lang="en-GB" sz="1200">
                <a:solidFill>
                  <a:schemeClr val="dk2"/>
                </a:solidFill>
              </a:rPr>
              <a:t>In order to increase average basket spending of loyal customers,  work on upsell and cross sell.</a:t>
            </a:r>
            <a:endParaRPr sz="1200">
              <a:solidFill>
                <a:schemeClr val="dk2"/>
              </a:solidFill>
            </a:endParaRPr>
          </a:p>
          <a:p>
            <a:pPr marL="457200" lvl="0" indent="0" algn="l" rtl="0">
              <a:spcBef>
                <a:spcPts val="0"/>
              </a:spcBef>
              <a:spcAft>
                <a:spcPts val="0"/>
              </a:spcAft>
              <a:buNone/>
            </a:pPr>
            <a:r>
              <a:rPr lang="en-GB" sz="1200">
                <a:solidFill>
                  <a:schemeClr val="dk2"/>
                </a:solidFill>
              </a:rPr>
              <a:t> </a:t>
            </a:r>
            <a:endParaRPr sz="1200">
              <a:solidFill>
                <a:schemeClr val="dk2"/>
              </a:solidFill>
            </a:endParaRPr>
          </a:p>
          <a:p>
            <a:pPr marL="0" lvl="0" indent="0" algn="l" rtl="0">
              <a:spcBef>
                <a:spcPts val="0"/>
              </a:spcBef>
              <a:spcAft>
                <a:spcPts val="0"/>
              </a:spcAft>
              <a:buNone/>
            </a:pPr>
            <a:endParaRPr b="1">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a:spLocks noGrp="1"/>
          </p:cNvSpPr>
          <p:nvPr>
            <p:ph type="body" idx="1"/>
          </p:nvPr>
        </p:nvSpPr>
        <p:spPr>
          <a:xfrm>
            <a:off x="5576325" y="2264750"/>
            <a:ext cx="3255900" cy="2304000"/>
          </a:xfrm>
          <a:prstGeom prst="rect">
            <a:avLst/>
          </a:prstGeom>
        </p:spPr>
        <p:txBody>
          <a:bodyPr spcFirstLastPara="1" wrap="square" lIns="91425" tIns="91425" rIns="91425" bIns="91425" anchor="t" anchorCtr="0">
            <a:normAutofit lnSpcReduction="20000"/>
          </a:bodyPr>
          <a:lstStyle/>
          <a:p>
            <a:pPr marL="0" lvl="0" indent="0" algn="l" rtl="0">
              <a:lnSpc>
                <a:spcPct val="100000"/>
              </a:lnSpc>
              <a:spcBef>
                <a:spcPts val="0"/>
              </a:spcBef>
              <a:spcAft>
                <a:spcPts val="0"/>
              </a:spcAft>
              <a:buNone/>
            </a:pPr>
            <a:r>
              <a:rPr lang="en-GB" sz="1400" b="1"/>
              <a:t>💡 Business Insights:</a:t>
            </a:r>
            <a:endParaRPr sz="1400" b="1"/>
          </a:p>
          <a:p>
            <a:pPr marL="457200" lvl="0" indent="-317500" algn="l" rtl="0">
              <a:lnSpc>
                <a:spcPct val="100000"/>
              </a:lnSpc>
              <a:spcBef>
                <a:spcPts val="0"/>
              </a:spcBef>
              <a:spcAft>
                <a:spcPts val="0"/>
              </a:spcAft>
              <a:buSzPts val="1400"/>
              <a:buChar char="●"/>
            </a:pPr>
            <a:r>
              <a:rPr lang="en-GB" sz="1400"/>
              <a:t>Loyalty rewards, personalised offers help to create long term retention</a:t>
            </a:r>
            <a:endParaRPr sz="1400"/>
          </a:p>
          <a:p>
            <a:pPr marL="457200" lvl="0" indent="-330200" algn="l" rtl="0">
              <a:lnSpc>
                <a:spcPct val="100000"/>
              </a:lnSpc>
              <a:spcBef>
                <a:spcPts val="0"/>
              </a:spcBef>
              <a:spcAft>
                <a:spcPts val="0"/>
              </a:spcAft>
              <a:buSzPts val="1600"/>
              <a:buChar char="●"/>
            </a:pPr>
            <a:r>
              <a:rPr lang="en-GB" sz="1400"/>
              <a:t>Consider implementing online shopping platform and delivery system to bring convenience for the customers.</a:t>
            </a:r>
            <a:endParaRPr sz="1400"/>
          </a:p>
          <a:p>
            <a:pPr marL="457200" lvl="0" indent="-317500" algn="l" rtl="0">
              <a:lnSpc>
                <a:spcPct val="100000"/>
              </a:lnSpc>
              <a:spcBef>
                <a:spcPts val="0"/>
              </a:spcBef>
              <a:spcAft>
                <a:spcPts val="0"/>
              </a:spcAft>
              <a:buSzPts val="1400"/>
              <a:buChar char="●"/>
            </a:pPr>
            <a:r>
              <a:rPr lang="en-GB" sz="1400"/>
              <a:t>Create promotions for school seasons</a:t>
            </a:r>
            <a:endParaRPr sz="1400"/>
          </a:p>
          <a:p>
            <a:pPr marL="0" lvl="0" indent="0" algn="l" rtl="0">
              <a:lnSpc>
                <a:spcPct val="100000"/>
              </a:lnSpc>
              <a:spcBef>
                <a:spcPts val="0"/>
              </a:spcBef>
              <a:spcAft>
                <a:spcPts val="0"/>
              </a:spcAft>
              <a:buNone/>
            </a:pPr>
            <a:endParaRPr sz="1400"/>
          </a:p>
        </p:txBody>
      </p:sp>
      <p:pic>
        <p:nvPicPr>
          <p:cNvPr id="118" name="Google Shape;118;p18"/>
          <p:cNvPicPr preferRelativeResize="0"/>
          <p:nvPr/>
        </p:nvPicPr>
        <p:blipFill rotWithShape="1">
          <a:blip r:embed="rId3">
            <a:alphaModFix/>
          </a:blip>
          <a:srcRect b="4351"/>
          <a:stretch/>
        </p:blipFill>
        <p:spPr>
          <a:xfrm>
            <a:off x="231175" y="2027725"/>
            <a:ext cx="5063299" cy="3065425"/>
          </a:xfrm>
          <a:prstGeom prst="rect">
            <a:avLst/>
          </a:prstGeom>
          <a:noFill/>
          <a:ln>
            <a:noFill/>
          </a:ln>
        </p:spPr>
      </p:pic>
      <p:sp>
        <p:nvSpPr>
          <p:cNvPr id="119" name="Google Shape;119;p18"/>
          <p:cNvSpPr txBox="1"/>
          <p:nvPr/>
        </p:nvSpPr>
        <p:spPr>
          <a:xfrm>
            <a:off x="475325" y="312025"/>
            <a:ext cx="8555700" cy="138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chemeClr val="dk2"/>
                </a:solidFill>
              </a:rPr>
              <a:t>Key Findings:</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2 adults with kids significantly is our biggest customer household group with 25%, second comes, single parent with kids 18%. Third is, households with 2 adults with no kids 13%.</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55% customer households have children. Time-saving products are important for this segment.</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In total 23% of households single-person.</a:t>
            </a:r>
            <a:endParaRPr>
              <a:solidFill>
                <a:schemeClr val="dk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body" idx="1"/>
          </p:nvPr>
        </p:nvSpPr>
        <p:spPr>
          <a:xfrm>
            <a:off x="5544675" y="211375"/>
            <a:ext cx="3334500" cy="31908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GB" sz="1400" b="1"/>
              <a:t>Key Findings:</a:t>
            </a:r>
            <a:endParaRPr sz="1400" b="1"/>
          </a:p>
          <a:p>
            <a:pPr marL="457200" lvl="0" indent="-311150" algn="l" rtl="0">
              <a:lnSpc>
                <a:spcPct val="100000"/>
              </a:lnSpc>
              <a:spcBef>
                <a:spcPts val="0"/>
              </a:spcBef>
              <a:spcAft>
                <a:spcPts val="0"/>
              </a:spcAft>
              <a:buSzPts val="1300"/>
              <a:buChar char="●"/>
            </a:pPr>
            <a:r>
              <a:rPr lang="en-GB" sz="1300"/>
              <a:t>Beef is the most preferred commodity across all household types, representing the highest share of purchases.</a:t>
            </a:r>
            <a:endParaRPr sz="1300"/>
          </a:p>
          <a:p>
            <a:pPr marL="457200" lvl="0" indent="-311150" algn="l" rtl="0">
              <a:lnSpc>
                <a:spcPct val="100000"/>
              </a:lnSpc>
              <a:spcBef>
                <a:spcPts val="0"/>
              </a:spcBef>
              <a:spcAft>
                <a:spcPts val="0"/>
              </a:spcAft>
              <a:buSzPts val="1300"/>
              <a:buChar char="●"/>
            </a:pPr>
            <a:r>
              <a:rPr lang="en-GB" sz="1300"/>
              <a:t>Additionally, frozen meat, and cheese appear to be staple items in shopping baskets.</a:t>
            </a:r>
            <a:endParaRPr sz="1300"/>
          </a:p>
          <a:p>
            <a:pPr marL="457200" lvl="0" indent="-311150" algn="l" rtl="0">
              <a:lnSpc>
                <a:spcPct val="100000"/>
              </a:lnSpc>
              <a:spcBef>
                <a:spcPts val="0"/>
              </a:spcBef>
              <a:spcAft>
                <a:spcPts val="0"/>
              </a:spcAft>
              <a:buSzPts val="1300"/>
              <a:buChar char="●"/>
            </a:pPr>
            <a:r>
              <a:rPr lang="en-GB" sz="1300"/>
              <a:t>Households with children show stronger demand for deli meat and salads</a:t>
            </a:r>
            <a:endParaRPr sz="1300"/>
          </a:p>
          <a:p>
            <a:pPr marL="457200" lvl="0" indent="-311150" algn="l" rtl="0">
              <a:lnSpc>
                <a:spcPct val="100000"/>
              </a:lnSpc>
              <a:spcBef>
                <a:spcPts val="0"/>
              </a:spcBef>
              <a:spcAft>
                <a:spcPts val="0"/>
              </a:spcAft>
              <a:buSzPts val="1300"/>
              <a:buChar char="●"/>
            </a:pPr>
            <a:r>
              <a:rPr lang="en-GB" sz="1300"/>
              <a:t>Households without children demonstrate relatively higher preference for frozen seafood.</a:t>
            </a:r>
            <a:endParaRPr sz="1300"/>
          </a:p>
        </p:txBody>
      </p:sp>
      <p:pic>
        <p:nvPicPr>
          <p:cNvPr id="125" name="Google Shape;125;p19" title="newplot (1).png"/>
          <p:cNvPicPr preferRelativeResize="0"/>
          <p:nvPr/>
        </p:nvPicPr>
        <p:blipFill>
          <a:blip r:embed="rId3">
            <a:alphaModFix/>
          </a:blip>
          <a:stretch>
            <a:fillRect/>
          </a:stretch>
        </p:blipFill>
        <p:spPr>
          <a:xfrm>
            <a:off x="0" y="0"/>
            <a:ext cx="5031950" cy="3573250"/>
          </a:xfrm>
          <a:prstGeom prst="rect">
            <a:avLst/>
          </a:prstGeom>
          <a:noFill/>
          <a:ln>
            <a:noFill/>
          </a:ln>
        </p:spPr>
      </p:pic>
      <p:sp>
        <p:nvSpPr>
          <p:cNvPr id="126" name="Google Shape;126;p19"/>
          <p:cNvSpPr txBox="1"/>
          <p:nvPr/>
        </p:nvSpPr>
        <p:spPr>
          <a:xfrm>
            <a:off x="110750" y="3573250"/>
            <a:ext cx="8414700" cy="145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b="1">
                <a:solidFill>
                  <a:schemeClr val="dk2"/>
                </a:solidFill>
              </a:rPr>
              <a:t>💡 Business Insights:</a:t>
            </a:r>
            <a:endParaRPr b="1">
              <a:solidFill>
                <a:schemeClr val="dk2"/>
              </a:solidFill>
            </a:endParaRPr>
          </a:p>
          <a:p>
            <a:pPr marL="0" lvl="0" indent="0" algn="l" rtl="0">
              <a:spcBef>
                <a:spcPts val="0"/>
              </a:spcBef>
              <a:spcAft>
                <a:spcPts val="0"/>
              </a:spcAft>
              <a:buNone/>
            </a:pPr>
            <a:endParaRPr b="1">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Analyse basket composition for each household and create personalised offer for different segments.  </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Use beef in promotions to drive store traffic and reach out more customers.</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Offer ‘Lunchbox’ or ‘Family Meal’ bundles</a:t>
            </a:r>
            <a:endParaRPr>
              <a:solidFill>
                <a:schemeClr val="dk2"/>
              </a:solidFill>
            </a:endParaRPr>
          </a:p>
          <a:p>
            <a:pPr marL="457200" lvl="0" indent="0" algn="l" rtl="0">
              <a:spcBef>
                <a:spcPts val="0"/>
              </a:spcBef>
              <a:spcAft>
                <a:spcPts val="0"/>
              </a:spcAft>
              <a:buNone/>
            </a:pPr>
            <a:endParaRPr>
              <a:solidFill>
                <a:schemeClr val="dk2"/>
              </a:solidFill>
            </a:endParaRPr>
          </a:p>
          <a:p>
            <a:pPr marL="457200" lvl="0" indent="0" algn="l" rtl="0">
              <a:spcBef>
                <a:spcPts val="0"/>
              </a:spcBef>
              <a:spcAft>
                <a:spcPts val="0"/>
              </a:spcAft>
              <a:buNone/>
            </a:pPr>
            <a:endParaRPr>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0"/>
          <p:cNvSpPr txBox="1">
            <a:spLocks noGrp="1"/>
          </p:cNvSpPr>
          <p:nvPr>
            <p:ph type="body" idx="1"/>
          </p:nvPr>
        </p:nvSpPr>
        <p:spPr>
          <a:xfrm>
            <a:off x="5515925" y="161050"/>
            <a:ext cx="3316500" cy="44079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GB" sz="1400" b="1"/>
              <a:t>💡 Business Insights:</a:t>
            </a:r>
            <a:endParaRPr sz="1400" b="1"/>
          </a:p>
          <a:p>
            <a:pPr marL="0" lvl="0" indent="0" algn="l" rtl="0">
              <a:lnSpc>
                <a:spcPct val="100000"/>
              </a:lnSpc>
              <a:spcBef>
                <a:spcPts val="0"/>
              </a:spcBef>
              <a:spcAft>
                <a:spcPts val="0"/>
              </a:spcAft>
              <a:buClr>
                <a:schemeClr val="dk1"/>
              </a:buClr>
              <a:buSzPts val="1100"/>
              <a:buFont typeface="Arial"/>
              <a:buNone/>
            </a:pPr>
            <a:endParaRPr sz="1400" b="1"/>
          </a:p>
          <a:p>
            <a:pPr marL="457200" lvl="0" indent="-311150" algn="l" rtl="0">
              <a:lnSpc>
                <a:spcPct val="100000"/>
              </a:lnSpc>
              <a:spcBef>
                <a:spcPts val="0"/>
              </a:spcBef>
              <a:spcAft>
                <a:spcPts val="0"/>
              </a:spcAft>
              <a:buSzPts val="1300"/>
              <a:buChar char="●"/>
            </a:pPr>
            <a:r>
              <a:rPr lang="en-GB" sz="1300"/>
              <a:t>There is a significant opportunity here to convert promiscuous customer to loyal customers. -Conduct deeper analysis on shopping composition of promiscuous customers aged between 45-54. </a:t>
            </a:r>
            <a:endParaRPr sz="1300"/>
          </a:p>
          <a:p>
            <a:pPr marL="457200" lvl="0" indent="0" algn="l" rtl="0">
              <a:lnSpc>
                <a:spcPct val="100000"/>
              </a:lnSpc>
              <a:spcBef>
                <a:spcPts val="0"/>
              </a:spcBef>
              <a:spcAft>
                <a:spcPts val="0"/>
              </a:spcAft>
              <a:buNone/>
            </a:pPr>
            <a:r>
              <a:rPr lang="en-GB" sz="1300"/>
              <a:t>-Create offers and invite them to loyalty programs.</a:t>
            </a:r>
            <a:endParaRPr sz="1300"/>
          </a:p>
          <a:p>
            <a:pPr marL="457200" lvl="0" indent="0" algn="l" rtl="0">
              <a:lnSpc>
                <a:spcPct val="100000"/>
              </a:lnSpc>
              <a:spcBef>
                <a:spcPts val="0"/>
              </a:spcBef>
              <a:spcAft>
                <a:spcPts val="0"/>
              </a:spcAft>
              <a:buNone/>
            </a:pPr>
            <a:r>
              <a:rPr lang="en-GB" sz="1300"/>
              <a:t>-Promote premium value bundles tailored to this segment.</a:t>
            </a:r>
            <a:endParaRPr sz="1300"/>
          </a:p>
          <a:p>
            <a:pPr marL="457200" lvl="0" indent="-311150" algn="l" rtl="0">
              <a:lnSpc>
                <a:spcPct val="100000"/>
              </a:lnSpc>
              <a:spcBef>
                <a:spcPts val="0"/>
              </a:spcBef>
              <a:spcAft>
                <a:spcPts val="0"/>
              </a:spcAft>
              <a:buSzPts val="1300"/>
              <a:buChar char="●"/>
            </a:pPr>
            <a:r>
              <a:rPr lang="en-GB" sz="1300"/>
              <a:t>Invest in digital marketing and social media to contribute long term commitment for gen Z.</a:t>
            </a:r>
            <a:endParaRPr sz="1300"/>
          </a:p>
        </p:txBody>
      </p:sp>
      <p:pic>
        <p:nvPicPr>
          <p:cNvPr id="132" name="Google Shape;132;p20"/>
          <p:cNvPicPr preferRelativeResize="0"/>
          <p:nvPr/>
        </p:nvPicPr>
        <p:blipFill>
          <a:blip r:embed="rId3">
            <a:alphaModFix/>
          </a:blip>
          <a:stretch>
            <a:fillRect/>
          </a:stretch>
        </p:blipFill>
        <p:spPr>
          <a:xfrm>
            <a:off x="0" y="1852075"/>
            <a:ext cx="5197025" cy="3291425"/>
          </a:xfrm>
          <a:prstGeom prst="rect">
            <a:avLst/>
          </a:prstGeom>
          <a:noFill/>
          <a:ln>
            <a:noFill/>
          </a:ln>
        </p:spPr>
      </p:pic>
      <p:sp>
        <p:nvSpPr>
          <p:cNvPr id="133" name="Google Shape;133;p20"/>
          <p:cNvSpPr txBox="1"/>
          <p:nvPr/>
        </p:nvSpPr>
        <p:spPr>
          <a:xfrm>
            <a:off x="251250" y="268900"/>
            <a:ext cx="5073000" cy="139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b="1">
                <a:solidFill>
                  <a:schemeClr val="dk2"/>
                </a:solidFill>
              </a:rPr>
              <a:t>Key Findings:</a:t>
            </a:r>
            <a:endParaRPr sz="1800">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Across all different loyalty types, customers who are aged between 19-24 our biggest customer segment.(Gen Z)</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The second highest number seen is that in promiscuous loyalty type, aged between 45-54. </a:t>
            </a:r>
            <a:endParaRPr>
              <a:solidFill>
                <a:schemeClr val="dk2"/>
              </a:solidFill>
            </a:endParaRPr>
          </a:p>
          <a:p>
            <a:pPr marL="457200" lvl="0" indent="0" algn="l" rtl="0">
              <a:spcBef>
                <a:spcPts val="0"/>
              </a:spcBef>
              <a:spcAft>
                <a:spcPts val="0"/>
              </a:spcAft>
              <a:buNone/>
            </a:pPr>
            <a:endParaRPr>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body" idx="1"/>
          </p:nvPr>
        </p:nvSpPr>
        <p:spPr>
          <a:xfrm>
            <a:off x="5173725" y="161050"/>
            <a:ext cx="3547800" cy="34164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GB" sz="1600" b="1"/>
              <a:t>📊 </a:t>
            </a:r>
            <a:r>
              <a:rPr lang="en-GB" sz="1400" b="1"/>
              <a:t>Key Findings:</a:t>
            </a:r>
            <a:endParaRPr sz="1400" b="1"/>
          </a:p>
          <a:p>
            <a:pPr marL="0" lvl="0" indent="0" algn="l" rtl="0">
              <a:lnSpc>
                <a:spcPct val="100000"/>
              </a:lnSpc>
              <a:spcBef>
                <a:spcPts val="0"/>
              </a:spcBef>
              <a:spcAft>
                <a:spcPts val="0"/>
              </a:spcAft>
              <a:buClr>
                <a:schemeClr val="dk1"/>
              </a:buClr>
              <a:buSzPts val="1100"/>
              <a:buFont typeface="Arial"/>
              <a:buNone/>
            </a:pPr>
            <a:endParaRPr sz="1400" b="1"/>
          </a:p>
          <a:p>
            <a:pPr marL="457200" lvl="0" indent="-317500" algn="l" rtl="0">
              <a:spcBef>
                <a:spcPts val="300"/>
              </a:spcBef>
              <a:spcAft>
                <a:spcPts val="0"/>
              </a:spcAft>
              <a:buSzPts val="1400"/>
              <a:buChar char="●"/>
            </a:pPr>
            <a:r>
              <a:rPr lang="en-GB" sz="1400"/>
              <a:t>Uneven cash flow</a:t>
            </a:r>
            <a:endParaRPr sz="1400"/>
          </a:p>
          <a:p>
            <a:pPr marL="457200" lvl="0" indent="-317500" algn="l" rtl="0">
              <a:lnSpc>
                <a:spcPct val="100000"/>
              </a:lnSpc>
              <a:spcBef>
                <a:spcPts val="0"/>
              </a:spcBef>
              <a:spcAft>
                <a:spcPts val="0"/>
              </a:spcAft>
              <a:buSzPts val="1400"/>
              <a:buChar char="●"/>
            </a:pPr>
            <a:r>
              <a:rPr lang="en-GB" sz="1400"/>
              <a:t>There is a high fluctuations seen in the last three years revenue. </a:t>
            </a:r>
            <a:endParaRPr sz="1400"/>
          </a:p>
          <a:p>
            <a:pPr marL="457200" lvl="0" indent="-317500" algn="l" rtl="0">
              <a:lnSpc>
                <a:spcPct val="100000"/>
              </a:lnSpc>
              <a:spcBef>
                <a:spcPts val="0"/>
              </a:spcBef>
              <a:spcAft>
                <a:spcPts val="0"/>
              </a:spcAft>
              <a:buSzPts val="1400"/>
              <a:buChar char="●"/>
            </a:pPr>
            <a:r>
              <a:rPr lang="en-GB" sz="1400"/>
              <a:t>There are strong revenue peaks in June-July. </a:t>
            </a:r>
            <a:endParaRPr sz="1400"/>
          </a:p>
          <a:p>
            <a:pPr marL="457200" lvl="0" indent="-317500" algn="l" rtl="0">
              <a:lnSpc>
                <a:spcPct val="100000"/>
              </a:lnSpc>
              <a:spcBef>
                <a:spcPts val="0"/>
              </a:spcBef>
              <a:spcAft>
                <a:spcPts val="0"/>
              </a:spcAft>
              <a:buSzPts val="1400"/>
              <a:buChar char="●"/>
            </a:pPr>
            <a:r>
              <a:rPr lang="en-GB" sz="1400"/>
              <a:t>The revenues reaches lower levels in January-February</a:t>
            </a:r>
            <a:endParaRPr sz="1400"/>
          </a:p>
          <a:p>
            <a:pPr marL="457200" lvl="0" indent="0" algn="l" rtl="0">
              <a:lnSpc>
                <a:spcPct val="100000"/>
              </a:lnSpc>
              <a:spcBef>
                <a:spcPts val="0"/>
              </a:spcBef>
              <a:spcAft>
                <a:spcPts val="0"/>
              </a:spcAft>
              <a:buNone/>
            </a:pPr>
            <a:endParaRPr sz="1400"/>
          </a:p>
        </p:txBody>
      </p:sp>
      <p:pic>
        <p:nvPicPr>
          <p:cNvPr id="139" name="Google Shape;139;p21"/>
          <p:cNvPicPr preferRelativeResize="0"/>
          <p:nvPr/>
        </p:nvPicPr>
        <p:blipFill>
          <a:blip r:embed="rId3">
            <a:alphaModFix/>
          </a:blip>
          <a:stretch>
            <a:fillRect/>
          </a:stretch>
        </p:blipFill>
        <p:spPr>
          <a:xfrm>
            <a:off x="191250" y="161050"/>
            <a:ext cx="4771075" cy="3176500"/>
          </a:xfrm>
          <a:prstGeom prst="rect">
            <a:avLst/>
          </a:prstGeom>
          <a:noFill/>
          <a:ln>
            <a:noFill/>
          </a:ln>
        </p:spPr>
      </p:pic>
      <p:sp>
        <p:nvSpPr>
          <p:cNvPr id="140" name="Google Shape;140;p21"/>
          <p:cNvSpPr txBox="1"/>
          <p:nvPr/>
        </p:nvSpPr>
        <p:spPr>
          <a:xfrm>
            <a:off x="191250" y="3512875"/>
            <a:ext cx="8394600" cy="13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2"/>
                </a:solidFill>
              </a:rPr>
              <a:t>💡 Business Insights:</a:t>
            </a:r>
            <a:endParaRPr>
              <a:solidFill>
                <a:schemeClr val="dk2"/>
              </a:solidFill>
            </a:endParaRPr>
          </a:p>
          <a:p>
            <a:pPr marL="457200" lvl="0" indent="-317500" algn="l" rtl="0">
              <a:lnSpc>
                <a:spcPct val="115000"/>
              </a:lnSpc>
              <a:spcBef>
                <a:spcPts val="300"/>
              </a:spcBef>
              <a:spcAft>
                <a:spcPts val="0"/>
              </a:spcAft>
              <a:buClr>
                <a:schemeClr val="dk2"/>
              </a:buClr>
              <a:buSzPts val="1400"/>
              <a:buChar char="●"/>
            </a:pPr>
            <a:r>
              <a:rPr lang="en-GB">
                <a:solidFill>
                  <a:schemeClr val="dk2"/>
                </a:solidFill>
              </a:rPr>
              <a:t>Implement loyalty/subscription programs to stabilize revenue fluctuations</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Ensure stock availability all time during the busy period (June-July)</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Implement targeted marketing campaigns and promotional offers for the slow months in order to stabilize revenue </a:t>
            </a:r>
            <a:endParaRPr>
              <a:solidFill>
                <a:schemeClr val="dk2"/>
              </a:solidFill>
            </a:endParaRPr>
          </a:p>
          <a:p>
            <a:pPr marL="457200" lvl="0" indent="0" algn="l" rtl="0">
              <a:spcBef>
                <a:spcPts val="0"/>
              </a:spcBef>
              <a:spcAft>
                <a:spcPts val="0"/>
              </a:spcAft>
              <a:buNone/>
            </a:pPr>
            <a:endParaRPr>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2"/>
          <p:cNvSpPr txBox="1">
            <a:spLocks noGrp="1"/>
          </p:cNvSpPr>
          <p:nvPr>
            <p:ph type="body" idx="1"/>
          </p:nvPr>
        </p:nvSpPr>
        <p:spPr>
          <a:xfrm>
            <a:off x="5666900" y="216375"/>
            <a:ext cx="3195600" cy="34164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GB" sz="1400" b="1"/>
              <a:t>Key Findings:</a:t>
            </a:r>
            <a:endParaRPr sz="1400" b="1"/>
          </a:p>
          <a:p>
            <a:pPr marL="457200" lvl="0" indent="-317500" algn="l" rtl="0">
              <a:lnSpc>
                <a:spcPct val="100000"/>
              </a:lnSpc>
              <a:spcBef>
                <a:spcPts val="0"/>
              </a:spcBef>
              <a:spcAft>
                <a:spcPts val="0"/>
              </a:spcAft>
              <a:buSzPts val="1400"/>
              <a:buChar char="●"/>
            </a:pPr>
            <a:r>
              <a:rPr lang="en-GB" sz="1400"/>
              <a:t>The business experiences strong seasonal volatility over the all commodities.</a:t>
            </a:r>
            <a:endParaRPr sz="1400"/>
          </a:p>
          <a:p>
            <a:pPr marL="457200" lvl="0" indent="-317500" algn="l" rtl="0">
              <a:lnSpc>
                <a:spcPct val="100000"/>
              </a:lnSpc>
              <a:spcBef>
                <a:spcPts val="0"/>
              </a:spcBef>
              <a:spcAft>
                <a:spcPts val="0"/>
              </a:spcAft>
              <a:buSzPts val="1400"/>
              <a:buChar char="●"/>
            </a:pPr>
            <a:r>
              <a:rPr lang="en-GB" sz="1400"/>
              <a:t>Main revenue driver is beef over the last 3 years.</a:t>
            </a:r>
            <a:endParaRPr sz="1400"/>
          </a:p>
          <a:p>
            <a:pPr marL="457200" lvl="0" indent="-317500" algn="l" rtl="0">
              <a:lnSpc>
                <a:spcPct val="100000"/>
              </a:lnSpc>
              <a:spcBef>
                <a:spcPts val="0"/>
              </a:spcBef>
              <a:spcAft>
                <a:spcPts val="0"/>
              </a:spcAft>
              <a:buSzPts val="1400"/>
              <a:buChar char="●"/>
            </a:pPr>
            <a:r>
              <a:rPr lang="en-GB" sz="1400"/>
              <a:t>Cheese popularity increases in March every year</a:t>
            </a:r>
            <a:endParaRPr sz="1400"/>
          </a:p>
          <a:p>
            <a:pPr marL="457200" lvl="0" indent="-317500" algn="l" rtl="0">
              <a:lnSpc>
                <a:spcPct val="100000"/>
              </a:lnSpc>
              <a:spcBef>
                <a:spcPts val="0"/>
              </a:spcBef>
              <a:spcAft>
                <a:spcPts val="0"/>
              </a:spcAft>
              <a:buSzPts val="1400"/>
              <a:buChar char="●"/>
            </a:pPr>
            <a:r>
              <a:rPr lang="en-GB" sz="1400"/>
              <a:t>Frozen meat revenue  increases in December but declines in November </a:t>
            </a:r>
            <a:endParaRPr sz="1400"/>
          </a:p>
        </p:txBody>
      </p:sp>
      <p:pic>
        <p:nvPicPr>
          <p:cNvPr id="146" name="Google Shape;146;p22" title="newplot (3).png"/>
          <p:cNvPicPr preferRelativeResize="0"/>
          <p:nvPr/>
        </p:nvPicPr>
        <p:blipFill rotWithShape="1">
          <a:blip r:embed="rId3">
            <a:alphaModFix/>
          </a:blip>
          <a:srcRect b="9543"/>
          <a:stretch/>
        </p:blipFill>
        <p:spPr>
          <a:xfrm>
            <a:off x="0" y="0"/>
            <a:ext cx="5709674" cy="3632775"/>
          </a:xfrm>
          <a:prstGeom prst="rect">
            <a:avLst/>
          </a:prstGeom>
          <a:noFill/>
          <a:ln>
            <a:noFill/>
          </a:ln>
        </p:spPr>
      </p:pic>
      <p:sp>
        <p:nvSpPr>
          <p:cNvPr id="147" name="Google Shape;147;p22"/>
          <p:cNvSpPr txBox="1"/>
          <p:nvPr/>
        </p:nvSpPr>
        <p:spPr>
          <a:xfrm>
            <a:off x="312025" y="3754450"/>
            <a:ext cx="8414700" cy="119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b="1">
                <a:solidFill>
                  <a:schemeClr val="dk2"/>
                </a:solidFill>
              </a:rPr>
              <a:t>💡 Business Insights:</a:t>
            </a:r>
            <a:endParaRPr b="1">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Investigate the strong beef decline in July 2017 and December 2018</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Implement demand forecasting models.</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Closely monitor beef performance and work on strategic pricing and supplier negotiations</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Promote cross selling initiatives for beef products: such as spices or BBQ products </a:t>
            </a:r>
            <a:endParaRPr>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a:spLocks noGrp="1"/>
          </p:cNvSpPr>
          <p:nvPr>
            <p:ph type="body" idx="1"/>
          </p:nvPr>
        </p:nvSpPr>
        <p:spPr>
          <a:xfrm>
            <a:off x="5773475" y="166050"/>
            <a:ext cx="3008400" cy="3416400"/>
          </a:xfrm>
          <a:prstGeom prst="rect">
            <a:avLst/>
          </a:prstGeom>
        </p:spPr>
        <p:txBody>
          <a:bodyPr spcFirstLastPara="1" wrap="square" lIns="91425" tIns="91425" rIns="91425" bIns="91425" anchor="t" anchorCtr="0">
            <a:normAutofit fontScale="92500" lnSpcReduction="10000"/>
          </a:bodyPr>
          <a:lstStyle/>
          <a:p>
            <a:pPr marL="0" lvl="0" indent="0" algn="l" rtl="0">
              <a:lnSpc>
                <a:spcPct val="100000"/>
              </a:lnSpc>
              <a:spcBef>
                <a:spcPts val="0"/>
              </a:spcBef>
              <a:spcAft>
                <a:spcPts val="0"/>
              </a:spcAft>
              <a:buClr>
                <a:schemeClr val="dk1"/>
              </a:buClr>
              <a:buSzPct val="78571"/>
              <a:buFont typeface="Arial"/>
              <a:buNone/>
            </a:pPr>
            <a:r>
              <a:rPr lang="en-GB" sz="1400" b="1"/>
              <a:t>Key Findings:</a:t>
            </a:r>
            <a:endParaRPr sz="1400" b="1"/>
          </a:p>
          <a:p>
            <a:pPr marL="457200" lvl="0" indent="-310832" algn="l" rtl="0">
              <a:lnSpc>
                <a:spcPct val="100000"/>
              </a:lnSpc>
              <a:spcBef>
                <a:spcPts val="0"/>
              </a:spcBef>
              <a:spcAft>
                <a:spcPts val="0"/>
              </a:spcAft>
              <a:buSzPct val="100000"/>
              <a:buChar char="●"/>
            </a:pPr>
            <a:r>
              <a:rPr lang="en-GB" sz="1400"/>
              <a:t>The business experience strong seasonal volatility over all the departments.</a:t>
            </a:r>
            <a:endParaRPr sz="1400"/>
          </a:p>
          <a:p>
            <a:pPr marL="457200" lvl="0" indent="-310832" algn="l" rtl="0">
              <a:lnSpc>
                <a:spcPct val="100000"/>
              </a:lnSpc>
              <a:spcBef>
                <a:spcPts val="0"/>
              </a:spcBef>
              <a:spcAft>
                <a:spcPts val="0"/>
              </a:spcAft>
              <a:buSzPct val="100000"/>
              <a:buChar char="●"/>
            </a:pPr>
            <a:r>
              <a:rPr lang="en-GB" sz="1400"/>
              <a:t>Grocery department contributes %25 of the total revenue and shows strong revenue peaks in January.</a:t>
            </a:r>
            <a:endParaRPr sz="1400"/>
          </a:p>
          <a:p>
            <a:pPr marL="457200" lvl="0" indent="-310832" algn="l" rtl="0">
              <a:lnSpc>
                <a:spcPct val="100000"/>
              </a:lnSpc>
              <a:spcBef>
                <a:spcPts val="0"/>
              </a:spcBef>
              <a:spcAft>
                <a:spcPts val="0"/>
              </a:spcAft>
              <a:buSzPct val="100000"/>
              <a:buChar char="●"/>
            </a:pPr>
            <a:r>
              <a:rPr lang="en-GB" sz="1400"/>
              <a:t>The meat department contribute %21 of the total revenue but demonstrates revenue inconsistencies. With September appearing to be slower months.</a:t>
            </a:r>
            <a:endParaRPr sz="1400"/>
          </a:p>
          <a:p>
            <a:pPr marL="457200" lvl="0" indent="-310832" algn="l" rtl="0">
              <a:lnSpc>
                <a:spcPct val="100000"/>
              </a:lnSpc>
              <a:spcBef>
                <a:spcPts val="0"/>
              </a:spcBef>
              <a:spcAft>
                <a:spcPts val="0"/>
              </a:spcAft>
              <a:buSzPct val="100000"/>
              <a:buChar char="●"/>
            </a:pPr>
            <a:r>
              <a:rPr lang="en-GB" sz="1400"/>
              <a:t>The pharmaceutical department generates the third highest revenue overall, but performs weakest in January.</a:t>
            </a:r>
            <a:endParaRPr sz="1400"/>
          </a:p>
          <a:p>
            <a:pPr marL="0" lvl="0" indent="0" algn="l" rtl="0">
              <a:lnSpc>
                <a:spcPct val="100000"/>
              </a:lnSpc>
              <a:spcBef>
                <a:spcPts val="0"/>
              </a:spcBef>
              <a:spcAft>
                <a:spcPts val="0"/>
              </a:spcAft>
              <a:buNone/>
            </a:pPr>
            <a:endParaRPr sz="1400"/>
          </a:p>
        </p:txBody>
      </p:sp>
      <p:sp>
        <p:nvSpPr>
          <p:cNvPr id="153" name="Google Shape;153;p23"/>
          <p:cNvSpPr txBox="1"/>
          <p:nvPr/>
        </p:nvSpPr>
        <p:spPr>
          <a:xfrm>
            <a:off x="452950" y="3754450"/>
            <a:ext cx="8328900" cy="118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b="1">
                <a:solidFill>
                  <a:schemeClr val="dk2"/>
                </a:solidFill>
              </a:rPr>
              <a:t>💡 Business Insights:</a:t>
            </a:r>
            <a:endParaRPr b="1">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Increase inventory before peak times in order to prevent stockout and lost sales</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Implement department specific inventory planning aligned with their seasonal demand patterns. </a:t>
            </a:r>
            <a:endParaRPr>
              <a:solidFill>
                <a:schemeClr val="dk2"/>
              </a:solidFill>
            </a:endParaRPr>
          </a:p>
          <a:p>
            <a:pPr marL="457200" lvl="0" indent="-317500" algn="l" rtl="0">
              <a:spcBef>
                <a:spcPts val="0"/>
              </a:spcBef>
              <a:spcAft>
                <a:spcPts val="0"/>
              </a:spcAft>
              <a:buClr>
                <a:schemeClr val="dk2"/>
              </a:buClr>
              <a:buSzPts val="1400"/>
              <a:buChar char="●"/>
            </a:pPr>
            <a:r>
              <a:rPr lang="en-GB">
                <a:solidFill>
                  <a:schemeClr val="dk2"/>
                </a:solidFill>
              </a:rPr>
              <a:t>Considering slow month in pharmaceutical department, create health and wellness campaigns in January</a:t>
            </a:r>
            <a:endParaRPr>
              <a:solidFill>
                <a:schemeClr val="dk2"/>
              </a:solidFill>
            </a:endParaRPr>
          </a:p>
        </p:txBody>
      </p:sp>
      <p:pic>
        <p:nvPicPr>
          <p:cNvPr id="154" name="Google Shape;154;p23" title="newplot (4).png"/>
          <p:cNvPicPr preferRelativeResize="0"/>
          <p:nvPr/>
        </p:nvPicPr>
        <p:blipFill>
          <a:blip r:embed="rId3">
            <a:alphaModFix/>
          </a:blip>
          <a:stretch>
            <a:fillRect/>
          </a:stretch>
        </p:blipFill>
        <p:spPr>
          <a:xfrm>
            <a:off x="152400" y="152400"/>
            <a:ext cx="5222600" cy="3357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a:spLocks noGrp="1"/>
          </p:cNvSpPr>
          <p:nvPr>
            <p:ph type="title"/>
          </p:nvPr>
        </p:nvSpPr>
        <p:spPr>
          <a:xfrm>
            <a:off x="633750" y="58500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Revenue Growth Strategy (Target: +5% in 2 years)</a:t>
            </a:r>
            <a:endParaRPr/>
          </a:p>
        </p:txBody>
      </p:sp>
      <p:sp>
        <p:nvSpPr>
          <p:cNvPr id="160" name="Google Shape;160;p24"/>
          <p:cNvSpPr txBox="1">
            <a:spLocks noGrp="1"/>
          </p:cNvSpPr>
          <p:nvPr>
            <p:ph type="body" idx="1"/>
          </p:nvPr>
        </p:nvSpPr>
        <p:spPr>
          <a:xfrm>
            <a:off x="727650" y="1323750"/>
            <a:ext cx="7688700" cy="2928600"/>
          </a:xfrm>
          <a:prstGeom prst="rect">
            <a:avLst/>
          </a:prstGeom>
        </p:spPr>
        <p:txBody>
          <a:bodyPr spcFirstLastPara="1" wrap="square" lIns="91425" tIns="91425" rIns="91425" bIns="91425" anchor="t" anchorCtr="0">
            <a:normAutofit fontScale="25000" lnSpcReduction="20000"/>
          </a:bodyPr>
          <a:lstStyle/>
          <a:p>
            <a:pPr marL="457200" lvl="0" indent="-297945" algn="l" rtl="0">
              <a:spcBef>
                <a:spcPts val="1200"/>
              </a:spcBef>
              <a:spcAft>
                <a:spcPts val="0"/>
              </a:spcAft>
              <a:buClr>
                <a:schemeClr val="dk1"/>
              </a:buClr>
              <a:buSzPct val="100000"/>
              <a:buAutoNum type="arabicParenR"/>
            </a:pPr>
            <a:r>
              <a:rPr lang="en-GB" sz="4368" b="1">
                <a:solidFill>
                  <a:schemeClr val="dk1"/>
                </a:solidFill>
              </a:rPr>
              <a:t>Focus on Families with Children</a:t>
            </a:r>
            <a:endParaRPr sz="4368" b="1">
              <a:solidFill>
                <a:schemeClr val="dk1"/>
              </a:solidFill>
            </a:endParaRPr>
          </a:p>
          <a:p>
            <a:pPr marL="0" lvl="0" indent="0" algn="l" rtl="0">
              <a:spcBef>
                <a:spcPts val="1200"/>
              </a:spcBef>
              <a:spcAft>
                <a:spcPts val="0"/>
              </a:spcAft>
              <a:buNone/>
            </a:pPr>
            <a:r>
              <a:rPr lang="en-GB" sz="4368">
                <a:solidFill>
                  <a:schemeClr val="dk1"/>
                </a:solidFill>
              </a:rPr>
              <a:t>Launch “Lunchbox” and “Family Meal” bundles and implement delivery services to increase basket size and attract convenience-driven customers.</a:t>
            </a:r>
            <a:endParaRPr sz="4368">
              <a:solidFill>
                <a:schemeClr val="dk1"/>
              </a:solidFill>
            </a:endParaRPr>
          </a:p>
          <a:p>
            <a:pPr marL="457200" lvl="0" indent="-297945" algn="l" rtl="0">
              <a:spcBef>
                <a:spcPts val="1200"/>
              </a:spcBef>
              <a:spcAft>
                <a:spcPts val="0"/>
              </a:spcAft>
              <a:buClr>
                <a:schemeClr val="dk1"/>
              </a:buClr>
              <a:buSzPct val="100000"/>
              <a:buAutoNum type="arabicParenR"/>
            </a:pPr>
            <a:r>
              <a:rPr lang="en-GB" sz="4368" b="1">
                <a:solidFill>
                  <a:schemeClr val="dk1"/>
                </a:solidFill>
              </a:rPr>
              <a:t>Convert Low-Loyalty Customers (45–54)</a:t>
            </a:r>
            <a:endParaRPr sz="4368" b="1">
              <a:solidFill>
                <a:schemeClr val="dk1"/>
              </a:solidFill>
            </a:endParaRPr>
          </a:p>
          <a:p>
            <a:pPr marL="0" lvl="0" indent="0" algn="l" rtl="0">
              <a:spcBef>
                <a:spcPts val="1200"/>
              </a:spcBef>
              <a:spcAft>
                <a:spcPts val="0"/>
              </a:spcAft>
              <a:buNone/>
            </a:pPr>
            <a:r>
              <a:rPr lang="en-GB" sz="4368">
                <a:solidFill>
                  <a:schemeClr val="dk1"/>
                </a:solidFill>
              </a:rPr>
              <a:t>This segment offers great opportunity to convert them into loyal customers. Analyze shopping behavior to identify key purchase drivers and develop targeted offers, personalized incentives, and premium value bundles to increase retention and lifetime value.</a:t>
            </a:r>
            <a:endParaRPr sz="4368">
              <a:solidFill>
                <a:schemeClr val="dk1"/>
              </a:solidFill>
            </a:endParaRPr>
          </a:p>
          <a:p>
            <a:pPr marL="457200" lvl="0" indent="-297945" algn="l" rtl="0">
              <a:spcBef>
                <a:spcPts val="1200"/>
              </a:spcBef>
              <a:spcAft>
                <a:spcPts val="0"/>
              </a:spcAft>
              <a:buClr>
                <a:schemeClr val="dk1"/>
              </a:buClr>
              <a:buSzPct val="100000"/>
              <a:buAutoNum type="arabicParenR"/>
            </a:pPr>
            <a:r>
              <a:rPr lang="en-GB" sz="4368" b="1">
                <a:solidFill>
                  <a:schemeClr val="dk1"/>
                </a:solidFill>
              </a:rPr>
              <a:t>Optimize Beef Performance</a:t>
            </a:r>
            <a:endParaRPr sz="4368" b="1">
              <a:solidFill>
                <a:schemeClr val="dk1"/>
              </a:solidFill>
            </a:endParaRPr>
          </a:p>
          <a:p>
            <a:pPr marL="0" lvl="0" indent="0" algn="l" rtl="0">
              <a:spcBef>
                <a:spcPts val="1200"/>
              </a:spcBef>
              <a:spcAft>
                <a:spcPts val="0"/>
              </a:spcAft>
              <a:buNone/>
            </a:pPr>
            <a:r>
              <a:rPr lang="en-GB" sz="4368">
                <a:solidFill>
                  <a:schemeClr val="dk1"/>
                </a:solidFill>
              </a:rPr>
              <a:t> As beef significantly influences total revenue, closely monitor demand and apply strategic pricing and cross-selling initiatives. Create promotions where business can attract new customers. </a:t>
            </a:r>
            <a:endParaRPr sz="4368">
              <a:solidFill>
                <a:schemeClr val="dk1"/>
              </a:solidFill>
            </a:endParaRPr>
          </a:p>
          <a:p>
            <a:pPr marL="457200" lvl="0" indent="-297945" algn="l" rtl="0">
              <a:spcBef>
                <a:spcPts val="1200"/>
              </a:spcBef>
              <a:spcAft>
                <a:spcPts val="0"/>
              </a:spcAft>
              <a:buClr>
                <a:schemeClr val="dk1"/>
              </a:buClr>
              <a:buSzPct val="100000"/>
              <a:buAutoNum type="arabicParenR"/>
            </a:pPr>
            <a:r>
              <a:rPr lang="en-GB" sz="4368" b="1">
                <a:solidFill>
                  <a:schemeClr val="dk1"/>
                </a:solidFill>
              </a:rPr>
              <a:t>Align Inventory with Seasonality</a:t>
            </a:r>
            <a:endParaRPr sz="4368" b="1">
              <a:solidFill>
                <a:schemeClr val="dk1"/>
              </a:solidFill>
            </a:endParaRPr>
          </a:p>
          <a:p>
            <a:pPr marL="0" lvl="0" indent="0" algn="l" rtl="0">
              <a:spcBef>
                <a:spcPts val="1200"/>
              </a:spcBef>
              <a:spcAft>
                <a:spcPts val="0"/>
              </a:spcAft>
              <a:buNone/>
            </a:pPr>
            <a:r>
              <a:rPr lang="en-GB" sz="4368">
                <a:solidFill>
                  <a:schemeClr val="dk1"/>
                </a:solidFill>
              </a:rPr>
              <a:t> Given the strong seasonal volatility across departments, implement department-specific inventory planning to prevent stockouts during peak periods.</a:t>
            </a:r>
            <a:endParaRPr sz="4368">
              <a:solidFill>
                <a:schemeClr val="dk1"/>
              </a:solidFill>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984</Words>
  <Application>Microsoft Office PowerPoint</Application>
  <PresentationFormat>On-screen Show (16:9)</PresentationFormat>
  <Paragraphs>94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Raleway</vt:lpstr>
      <vt:lpstr>Lato</vt:lpstr>
      <vt:lpstr>Arial</vt:lpstr>
      <vt:lpstr>Streamline</vt:lpstr>
      <vt:lpstr>SUPERFOODMAX Data Analysis</vt:lpstr>
      <vt:lpstr>Business Questions </vt:lpstr>
      <vt:lpstr>PowerPoint Presentation</vt:lpstr>
      <vt:lpstr>Cleaning</vt:lpstr>
      <vt:lpstr>Descriptive Analysis </vt:lpstr>
      <vt:lpstr>PowerPoint Presentation</vt:lpstr>
      <vt:lpstr>PowerPoint Presentation</vt:lpstr>
      <vt:lpstr>PowerPoint Presentation</vt:lpstr>
      <vt:lpstr>PowerPoint Presentation</vt:lpstr>
      <vt:lpstr>PowerPoint Presentation</vt:lpstr>
      <vt:lpstr>PowerPoint Presentation</vt:lpstr>
      <vt:lpstr>Revenue Growth Strategy (Target: +5% in 2 years)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Joe Cowan</cp:lastModifiedBy>
  <cp:revision>1</cp:revision>
  <dcterms:modified xsi:type="dcterms:W3CDTF">2026-03-16T02:38:46Z</dcterms:modified>
</cp:coreProperties>
</file>